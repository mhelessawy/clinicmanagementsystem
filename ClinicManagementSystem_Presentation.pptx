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نظام إدارة العيادات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3498DB"/>
                </a:solidFill>
              </a:defRPr>
            </a:pPr>
            <a:r>
              <a:t>Clinic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حل احترافي لإدارة المنشآت الصحية</a:t>
            </a:r>
          </a:p>
          <a:p>
            <a:r>
              <a:t>Professional Healthcare Management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943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39C12"/>
                </a:solidFill>
              </a:defRPr>
            </a:pPr>
            <a:r>
              <a:t>Powered by ASP.NET Core 8 MVC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نظرة عامة |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نظام إدارة العيادات هو حل برمجي متكامل وحديث مصمم لإدارة العيادات الطبية بكفاءة عالية.</a:t>
            </a:r>
          </a:p>
          <a:p>
            <a:pPr algn="l">
              <a:spcAft>
                <a:spcPts val="1800"/>
              </a:spcAft>
              <a:defRPr sz="1800">
                <a:solidFill>
                  <a:srgbClr val="555555"/>
                </a:solidFill>
              </a:defRPr>
            </a:pPr>
            <a:r>
              <a:t>Clinic Management System is a comprehensive and modern software solution designed for efficient medical clinic management.</a:t>
            </a:r>
          </a:p>
          <a:p>
            <a:pPr algn="r">
              <a:spcAft>
                <a:spcPts val="800"/>
              </a:spcAft>
              <a:defRPr sz="1800">
                <a:solidFill>
                  <a:srgbClr val="27AE60"/>
                </a:solidFill>
              </a:defRPr>
            </a:pPr>
            <a:r>
              <a:t>✓ يوفر النظام إدارة شاملة للأطباء، المرضى، المواعيد، والتشخيصات الطبية</a:t>
            </a:r>
          </a:p>
          <a:p>
            <a:pPr algn="l">
              <a:spcAft>
                <a:spcPts val="1800"/>
              </a:spcAft>
              <a:defRPr sz="1600">
                <a:solidFill>
                  <a:srgbClr val="27AE60"/>
                </a:solidFill>
              </a:defRPr>
            </a:pPr>
            <a:r>
              <a:t>✓ Complete management of doctors, patients, appointments, and medical diagnoses</a:t>
            </a:r>
          </a:p>
          <a:p>
            <a:pPr algn="r">
              <a:spcAft>
                <a:spcPts val="800"/>
              </a:spcAft>
              <a:defRPr sz="1800">
                <a:solidFill>
                  <a:srgbClr val="3498DB"/>
                </a:solidFill>
              </a:defRPr>
            </a:pPr>
            <a:r>
              <a:t>✓ مبني على أحدث تقنيات Microsoft مع تركيز على الأمان والأداء</a:t>
            </a:r>
          </a:p>
          <a:p>
            <a:pPr algn="l">
              <a:defRPr sz="1600">
                <a:solidFill>
                  <a:srgbClr val="3498DB"/>
                </a:solidFill>
              </a:defRPr>
            </a:pPr>
            <a:r>
              <a:t>✓ Built on the latest Microsoft technologies with focus on security and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846320"/>
            <a:ext cx="1463040" cy="1371600"/>
          </a:xfrm>
          <a:prstGeom prst="rect">
            <a:avLst/>
          </a:prstGeom>
          <a:solidFill>
            <a:srgbClr val="3498DB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93776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Database Tables</a:t>
            </a:r>
            <a:br/>
            <a:r>
              <a:t>جداول قاعدة البيانات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4846320"/>
            <a:ext cx="1463040" cy="1371600"/>
          </a:xfrm>
          <a:prstGeom prst="rect">
            <a:avLst/>
          </a:prstGeom>
          <a:solidFill>
            <a:srgbClr val="3498DB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493776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557784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Controllers</a:t>
            </a:r>
            <a:br/>
            <a:r>
              <a:t>وحدات التحكم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4846320"/>
            <a:ext cx="1463040" cy="1371600"/>
          </a:xfrm>
          <a:prstGeom prst="rect">
            <a:avLst/>
          </a:prstGeom>
          <a:solidFill>
            <a:srgbClr val="3498DB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493776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57784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Views</a:t>
            </a:r>
            <a:br/>
            <a:r>
              <a:t>صفحات العرض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4846320"/>
            <a:ext cx="1463040" cy="1371600"/>
          </a:xfrm>
          <a:prstGeom prst="rect">
            <a:avLst/>
          </a:prstGeom>
          <a:solidFill>
            <a:srgbClr val="3498DB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93776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57784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Lines of Code</a:t>
            </a:r>
            <a:br/>
            <a:r>
              <a:t>سطر برمجي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الميزات الأساسية | 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194560" cy="18288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إدارة الأطباء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Doctor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Complete profiles, specialties, credentials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188720"/>
            <a:ext cx="2194560" cy="18288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إدارة المرضى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Patient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Patient records, history, doctor assignment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2194560" cy="18288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371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نظام المواعيد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1828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Appointments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Schedule, track, manage appointments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474720"/>
            <a:ext cx="2194560" cy="18288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التشخيصات الطبية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Medical Diagnoses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Diagnosis documentation with attachments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474720"/>
            <a:ext cx="2194560" cy="18288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657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إدارة المساعدين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114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Staff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572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Doctor assistants with login credentials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474720"/>
            <a:ext cx="2194560" cy="18288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3657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التقارير المتقدمة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4114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Advanced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4572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Excel exports with filters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أدوار المستخدمين | User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1371600"/>
          </a:xfrm>
          <a:prstGeom prst="rect">
            <a:avLst/>
          </a:prstGeom>
          <a:solidFill>
            <a:srgbClr val="2C3E5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5544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المدير الأعلى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9202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Super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Full system access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371600"/>
            <a:ext cx="2743200" cy="13716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المدير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9202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Manage departments, doctors, patients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200400"/>
            <a:ext cx="2743200" cy="137160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3832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الطبيب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49039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Doctor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114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Own patients &amp; diagnoses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200400"/>
            <a:ext cx="2743200" cy="1371600"/>
          </a:xfrm>
          <a:prstGeom prst="rect">
            <a:avLst/>
          </a:prstGeom>
          <a:solidFill>
            <a:srgbClr val="F39C12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3832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المساعد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49039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114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Limited access, tied to doctor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5029200"/>
            <a:ext cx="2743200" cy="1371600"/>
          </a:xfrm>
          <a:prstGeom prst="rect">
            <a:avLst/>
          </a:prstGeom>
          <a:solidFill>
            <a:srgbClr val="E74C3C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5212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موظف الاستقبال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5778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Receptionist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Patient management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التقنيات المستخدمة |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498DB"/>
                </a:solidFill>
              </a:defRPr>
            </a:pPr>
            <a:r>
              <a:t>Backend Technologies | تقنيات الخادم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828800" cy="640080"/>
          </a:xfrm>
          <a:prstGeom prst="rect">
            <a:avLst/>
          </a:prstGeom>
          <a:solidFill>
            <a:srgbClr val="2C3E50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ASP.NET Core 8.0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828800"/>
            <a:ext cx="1828800" cy="640080"/>
          </a:xfrm>
          <a:prstGeom prst="rect">
            <a:avLst/>
          </a:prstGeom>
          <a:solidFill>
            <a:srgbClr val="2C3E50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92024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Entity Framework Core 8.0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1828800"/>
            <a:ext cx="1828800" cy="640080"/>
          </a:xfrm>
          <a:prstGeom prst="rect">
            <a:avLst/>
          </a:prstGeom>
          <a:solidFill>
            <a:srgbClr val="2C3E50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92024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SQL Server 2019+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43200"/>
            <a:ext cx="1828800" cy="640080"/>
          </a:xfrm>
          <a:prstGeom prst="rect">
            <a:avLst/>
          </a:prstGeom>
          <a:solidFill>
            <a:srgbClr val="2C3E50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83464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C# 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743200"/>
            <a:ext cx="1828800" cy="640080"/>
          </a:xfrm>
          <a:prstGeom prst="rect">
            <a:avLst/>
          </a:prstGeom>
          <a:solidFill>
            <a:srgbClr val="2C3E50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BCrypt.Net-Next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7AE60"/>
                </a:solidFill>
              </a:defRPr>
            </a:pPr>
            <a:r>
              <a:t>Frontend Technologies | تقنيات الواجهة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297680"/>
            <a:ext cx="1828800" cy="64008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438912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Bootstrap 5.3.0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4297680"/>
            <a:ext cx="1828800" cy="64008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438912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Font Awesome 6.4.0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4297680"/>
            <a:ext cx="1828800" cy="64008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438912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jQuery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212080"/>
            <a:ext cx="1828800" cy="64008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530352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Responsive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5212080"/>
            <a:ext cx="1828800" cy="64008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530352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ClosedXML (Excel)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5212080"/>
            <a:ext cx="1828800" cy="64008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530352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RTL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هيكل قاعدة البيانات | Database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3108960" cy="1097280"/>
          </a:xfrm>
          <a:prstGeom prst="rect">
            <a:avLst/>
          </a:prstGeom>
          <a:solidFill>
            <a:srgbClr val="ECF0F1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28016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</a:defRPr>
            </a:pPr>
            <a:r>
              <a:t>UserInfo &amp;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C3E50"/>
                </a:solidFill>
              </a:defRPr>
            </a:pPr>
            <a:r>
              <a:t>إدارة المستخدمين والصلاحيات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User authentication and permissions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188720"/>
            <a:ext cx="3108960" cy="1097280"/>
          </a:xfrm>
          <a:prstGeom prst="rect">
            <a:avLst/>
          </a:prstGeom>
          <a:solidFill>
            <a:srgbClr val="ECF0F1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59" y="128016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</a:defRPr>
            </a:pPr>
            <a:r>
              <a:t>Department &amp; Specialist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59" y="16002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C3E50"/>
                </a:solidFill>
              </a:defRPr>
            </a:pPr>
            <a:r>
              <a:t>الأقسام والتخصصات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59" y="187451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Medical departments and specialties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60320"/>
            <a:ext cx="3108960" cy="1097280"/>
          </a:xfrm>
          <a:prstGeom prst="rect">
            <a:avLst/>
          </a:prstGeom>
          <a:solidFill>
            <a:srgbClr val="ECF0F1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</a:defRPr>
            </a:pPr>
            <a:r>
              <a:t>DoctorInfo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718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C3E50"/>
                </a:solidFill>
              </a:defRPr>
            </a:pPr>
            <a:r>
              <a:t>بيانات الأطباء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461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Doctor profiles and credentials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2560320"/>
            <a:ext cx="3108960" cy="1097280"/>
          </a:xfrm>
          <a:prstGeom prst="rect">
            <a:avLst/>
          </a:prstGeom>
          <a:solidFill>
            <a:srgbClr val="ECF0F1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59" y="265176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</a:defRPr>
            </a:pPr>
            <a:r>
              <a:t>Patient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29718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C3E50"/>
                </a:solidFill>
              </a:defRPr>
            </a:pPr>
            <a:r>
              <a:t>بيانات المرضى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32461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Patient records and information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931920"/>
            <a:ext cx="3108960" cy="1097280"/>
          </a:xfrm>
          <a:prstGeom prst="rect">
            <a:avLst/>
          </a:prstGeom>
          <a:solidFill>
            <a:srgbClr val="ECF0F1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02335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</a:defRPr>
            </a:pPr>
            <a:r>
              <a:t>PatientDiagnosis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3434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C3E50"/>
                </a:solidFill>
              </a:defRPr>
            </a:pPr>
            <a:r>
              <a:t>التشخيصات الطبية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177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Medical diagnosis documentation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931920"/>
            <a:ext cx="3108960" cy="1097280"/>
          </a:xfrm>
          <a:prstGeom prst="rect">
            <a:avLst/>
          </a:prstGeom>
          <a:solidFill>
            <a:srgbClr val="ECF0F1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59" y="402335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</a:defRPr>
            </a:pPr>
            <a:r>
              <a:t>Appointment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59" y="43434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C3E50"/>
                </a:solidFill>
              </a:defRPr>
            </a:pPr>
            <a:r>
              <a:t>المواعيد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46177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Appointment scheduling and tracking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5303520"/>
            <a:ext cx="3108960" cy="1097280"/>
          </a:xfrm>
          <a:prstGeom prst="rect">
            <a:avLst/>
          </a:prstGeom>
          <a:solidFill>
            <a:srgbClr val="ECF0F1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39495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</a:defRPr>
            </a:pPr>
            <a:r>
              <a:t>DoctorAssist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7150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C3E50"/>
                </a:solidFill>
              </a:defRPr>
            </a:pPr>
            <a:r>
              <a:t>مساعدو الأطباء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9893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Doctor assistants management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5303520"/>
            <a:ext cx="3108960" cy="1097280"/>
          </a:xfrm>
          <a:prstGeom prst="rect">
            <a:avLst/>
          </a:prstGeom>
          <a:solidFill>
            <a:srgbClr val="ECF0F1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59" y="539495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</a:defRPr>
            </a:pPr>
            <a:r>
              <a:t>DoctorSubscription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59" y="57150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C3E50"/>
                </a:solidFill>
              </a:defRPr>
            </a:pPr>
            <a:r>
              <a:t>اشتراكات الأطباء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59" y="59893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Subscription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إحصائيات النظام | System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011680" cy="13716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Controllers</a:t>
            </a:r>
            <a:br/>
            <a:r>
              <a:t>وحدات التحكم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71600"/>
            <a:ext cx="2011680" cy="137160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Models</a:t>
            </a:r>
            <a:br/>
            <a:r>
              <a:t>النماذج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371600"/>
            <a:ext cx="2011680" cy="1371600"/>
          </a:xfrm>
          <a:prstGeom prst="rect">
            <a:avLst/>
          </a:prstGeom>
          <a:solidFill>
            <a:srgbClr val="F39C12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554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Views</a:t>
            </a:r>
            <a:br/>
            <a:r>
              <a:t>صفحات العرض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00400"/>
            <a:ext cx="2011680" cy="1371600"/>
          </a:xfrm>
          <a:prstGeom prst="rect">
            <a:avLst/>
          </a:prstGeom>
          <a:solidFill>
            <a:srgbClr val="E74C3C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User Roles</a:t>
            </a:r>
            <a:br/>
            <a:r>
              <a:t>أدوار المستخدمين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200400"/>
            <a:ext cx="2011680" cy="1371600"/>
          </a:xfrm>
          <a:prstGeom prst="rect">
            <a:avLst/>
          </a:prstGeom>
          <a:solidFill>
            <a:srgbClr val="2C3E5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3832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Features</a:t>
            </a:r>
            <a:br/>
            <a:r>
              <a:t>الميزات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3200400"/>
            <a:ext cx="2011680" cy="13716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33832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Report Types</a:t>
            </a:r>
            <a:br/>
            <a:r>
              <a:t>أنواع التقارير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5029200"/>
            <a:ext cx="2011680" cy="137160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52120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5,000+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Lines of Code</a:t>
            </a:r>
            <a:br/>
            <a:r>
              <a:t>سطر برمجي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5029200"/>
            <a:ext cx="2011680" cy="1371600"/>
          </a:xfrm>
          <a:prstGeom prst="rect">
            <a:avLst/>
          </a:prstGeom>
          <a:solidFill>
            <a:srgbClr val="F39C12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52120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25+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Documentation Files</a:t>
            </a:r>
            <a:br/>
            <a:r>
              <a:t>ملفات التوثيق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ميزات الأمان | Security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3108960" cy="137160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508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تشفير كلمات المرور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7451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Password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BCrypt hashing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371600"/>
            <a:ext cx="3108960" cy="137160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508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إدارة الجلسات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87451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Session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30-min timeout, HTTPOnly cookies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017520"/>
            <a:ext cx="3108960" cy="137160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التحكم في الوصول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2043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Role-based permissions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3017520"/>
            <a:ext cx="3108960" cy="137160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31546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استعلامات آمنة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52043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Secure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Parameterized via EF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663440"/>
            <a:ext cx="3108960" cy="137160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800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حماية CSRF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16635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CSRF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Anti-Forgery tokens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4663440"/>
            <a:ext cx="3108960" cy="137160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4800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سجل التدقيق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16635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Track all user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التقارير والتحليلات | Reports &amp;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926080" cy="1645920"/>
          </a:xfrm>
          <a:prstGeom prst="rect">
            <a:avLst/>
          </a:prstGeom>
          <a:solidFill>
            <a:srgbClr val="3498DB"/>
          </a:solidFill>
          <a:ln w="381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تقرير الأطباء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9659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Doctors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Excel export with specialty filtering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371600"/>
            <a:ext cx="2926080" cy="1645920"/>
          </a:xfrm>
          <a:prstGeom prst="rect">
            <a:avLst/>
          </a:prstGeom>
          <a:solidFill>
            <a:srgbClr val="27AE60"/>
          </a:solidFill>
          <a:ln w="381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تقرير المرضى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9659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Patients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Excel export with doctor filtering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474720"/>
            <a:ext cx="2926080" cy="1645920"/>
          </a:xfrm>
          <a:prstGeom prst="rect">
            <a:avLst/>
          </a:prstGeom>
          <a:solidFill>
            <a:srgbClr val="F39C12"/>
          </a:solidFill>
          <a:ln w="381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657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تقرير التشخيصات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690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Diagnoses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Filterable by date, doctor, patient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474720"/>
            <a:ext cx="2926080" cy="1645920"/>
          </a:xfrm>
          <a:prstGeom prst="rect">
            <a:avLst/>
          </a:prstGeom>
          <a:solidFill>
            <a:srgbClr val="E74C3C"/>
          </a:solidFill>
          <a:ln w="381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657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تقرير الإحصائيات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0690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Statistics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System-wide analytics and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486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C3E50"/>
                </a:solidFill>
              </a:defRPr>
            </a:pPr>
            <a:r>
              <a:t>✓ فلترة متقدمة  ✓ تصدير Excel  ✓ نطاقات التاريخ  ✓ تقارير مخصصة</a:t>
            </a:r>
          </a:p>
          <a:p>
            <a:pPr algn="ctr">
              <a:defRPr sz="1600">
                <a:solidFill>
                  <a:srgbClr val="555555"/>
                </a:solidFill>
              </a:defRPr>
            </a:pPr>
            <a:r>
              <a:t>✓ Advanced Filtering  ✓ Excel Export  ✓ Date Ranges  ✓ Custom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لوحة التحكم |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3498DB"/>
                </a:solidFill>
              </a:defRPr>
            </a:pPr>
            <a:r>
              <a:t>لوحة تحكم ذكية مخصصة لكل دور مع عرض إحصائيات النظام في الوقت الفعلي</a:t>
            </a:r>
          </a:p>
          <a:p>
            <a:pPr algn="ctr">
              <a:defRPr sz="1800">
                <a:solidFill>
                  <a:srgbClr val="555555"/>
                </a:solidFill>
              </a:defRPr>
            </a:pPr>
            <a:r>
              <a:t>Smart dashboard customized for each role with real-time system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8346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C3E50"/>
                </a:solidFill>
              </a:defRPr>
            </a:pPr>
            <a:r>
              <a:t>📊 عرض إحصائيات النظام في الوقت الفعلي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15468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555555"/>
                </a:solidFill>
              </a:defRPr>
            </a:pPr>
            <a:r>
              <a:t>Real-time system statistics display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749039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C3E50"/>
                </a:solidFill>
              </a:defRPr>
            </a:pPr>
            <a:r>
              <a:t>📅 مواعيد اليوم والغد مباشرة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06908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555555"/>
                </a:solidFill>
              </a:defRPr>
            </a:pPr>
            <a:r>
              <a:t>Today's and tomorrow's appointments at a glance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6400800" cy="731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663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C3E50"/>
                </a:solidFill>
              </a:defRPr>
            </a:pPr>
            <a:r>
              <a:t>🔔 تنبيهات الاشتراكات والتجديد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98348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555555"/>
                </a:solidFill>
              </a:defRPr>
            </a:pPr>
            <a:r>
              <a:t>Subscription and renewal alerts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486400"/>
            <a:ext cx="6400800" cy="731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55778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C3E50"/>
                </a:solidFill>
              </a:defRPr>
            </a:pPr>
            <a:r>
              <a:t>👥 عدد الأطباء والمرضى والتشخيصات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89788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555555"/>
                </a:solidFill>
              </a:defRPr>
            </a:pPr>
            <a:r>
              <a:t>Count of doctors, patients, and diagnoses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حالات الاستخدام |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926080" cy="1828800"/>
          </a:xfrm>
          <a:prstGeom prst="rect">
            <a:avLst/>
          </a:prstGeom>
          <a:solidFill>
            <a:srgbClr val="3498DB"/>
          </a:solidFill>
          <a:ln w="381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🏥 العيادات الطبية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1488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Medical Clinics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Complete management for private clinics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371600"/>
            <a:ext cx="2926080" cy="1828800"/>
          </a:xfrm>
          <a:prstGeom prst="rect">
            <a:avLst/>
          </a:prstGeom>
          <a:solidFill>
            <a:srgbClr val="27AE60"/>
          </a:solidFill>
          <a:ln w="381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🎓 التعليم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1488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Learn ASP.NET Core MVC and EF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657600"/>
            <a:ext cx="2926080" cy="1828800"/>
          </a:xfrm>
          <a:prstGeom prst="rect">
            <a:avLst/>
          </a:prstGeom>
          <a:solidFill>
            <a:srgbClr val="F39C12"/>
          </a:solidFill>
          <a:ln w="381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931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🏢 المراكز الصحية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4348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Health Centers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Manage multiple departments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657600"/>
            <a:ext cx="2926080" cy="1828800"/>
          </a:xfrm>
          <a:prstGeom prst="rect">
            <a:avLst/>
          </a:prstGeom>
          <a:solidFill>
            <a:srgbClr val="E74C3C"/>
          </a:solidFill>
          <a:ln w="381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931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🚀 الشركات الناشئة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4348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Startups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Foundation for healthcare platforms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9436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حل مرن يناسب جميع أحجام المنشآت الطبية</a:t>
            </a:r>
          </a:p>
          <a:p>
            <a:pPr algn="ctr">
              <a:defRPr sz="1700">
                <a:solidFill>
                  <a:srgbClr val="555555"/>
                </a:solidFill>
              </a:defRPr>
            </a:pPr>
            <a:r>
              <a:t>Flexible solution suitable for all sizes of medical facilities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التحسينات المستقبلية |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6858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463040"/>
            <a:ext cx="6035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📱 تطبيق موبايل  |  Mobile App  •  iOS and Android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194560"/>
            <a:ext cx="6400800" cy="6858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286000"/>
            <a:ext cx="6035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✉️ إشعارات SMS/Email  |  SMS/Email Notifications  •  Automated reminders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017520"/>
            <a:ext cx="6400800" cy="6858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108960"/>
            <a:ext cx="6035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💊 وحدة الصيدلية  |  Pharmacy Module  •  Prescription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840480"/>
            <a:ext cx="6400800" cy="6858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931920"/>
            <a:ext cx="6035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🧪 تكامل المختبر  |  Laboratory Integration  •  Lab test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663440"/>
            <a:ext cx="6400800" cy="6858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754880"/>
            <a:ext cx="6035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💰 الفواتير والمدفوعات  |  Billing &amp; Payments  •  Payment processing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486400"/>
            <a:ext cx="6400800" cy="6858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5577840"/>
            <a:ext cx="6035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 تحليلات متقدمة  |  Advanced Analytics  •  AI-powered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الفوائد الرئيسية | Key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3108960" cy="13716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⚡ أداء عالي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High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ASP.NET Core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371600"/>
            <a:ext cx="3108960" cy="137160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🛡️ آمن وموثوق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920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Secure &amp; Reliable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286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Enterprise 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017520"/>
            <a:ext cx="3108960" cy="1371600"/>
          </a:xfrm>
          <a:prstGeom prst="rect">
            <a:avLst/>
          </a:prstGeom>
          <a:solidFill>
            <a:srgbClr val="F39C12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200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📈 قابل للتوسع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66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Scalable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Grow with your business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3017520"/>
            <a:ext cx="3108960" cy="1371600"/>
          </a:xfrm>
          <a:prstGeom prst="rect">
            <a:avLst/>
          </a:prstGeom>
          <a:solidFill>
            <a:srgbClr val="E74C3C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3200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🎨 واجهة عصرية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566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Modern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931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Bootstrap 5 responsive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663440"/>
            <a:ext cx="3108960" cy="1371600"/>
          </a:xfrm>
          <a:prstGeom prst="rect">
            <a:avLst/>
          </a:prstGeom>
          <a:solidFill>
            <a:srgbClr val="2C3E5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846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⚙️ سهل التخصيص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1207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Easy to Customize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577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Modular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4663440"/>
            <a:ext cx="3108960" cy="13716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4846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📚 موثق بالكامل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21207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Fully Documented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577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25+ documentation 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الخلاصة |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نظام إدارة عيادات متكامل وجاهز للإنتاج</a:t>
            </a:r>
          </a:p>
          <a:p>
            <a:pPr algn="ctr">
              <a:spcAft>
                <a:spcPts val="2400"/>
              </a:spcAft>
              <a:defRPr sz="2800">
                <a:solidFill>
                  <a:srgbClr val="3498DB"/>
                </a:solidFill>
              </a:defRPr>
            </a:pPr>
            <a:r>
              <a:t>Complete Production-Ready Clinic Management System</a:t>
            </a:r>
          </a:p>
          <a:p>
            <a:pPr algn="ctr"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حل برمجي شامل يجمع بين الأداء العالي، الأمان، وسهولة الاستخدام</a:t>
            </a:r>
          </a:p>
          <a:p>
            <a:pPr algn="ctr">
              <a:defRPr sz="2000">
                <a:solidFill>
                  <a:srgbClr val="3498DB"/>
                </a:solidFill>
              </a:defRPr>
            </a:pPr>
            <a:r>
              <a:t>Comprehensive solution combining high performance, security, and ease of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3035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39C12"/>
                </a:solidFill>
              </a:defRPr>
            </a:pPr>
            <a:r>
              <a:t>⭐ Modern Tech  •  🛡️ Secure  •  📈 Scalable  •  👥 User-Friendly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7000" b="1">
                <a:solidFill>
                  <a:srgbClr val="FFFFFF"/>
                </a:solidFill>
              </a:defRPr>
            </a:pPr>
            <a:r>
              <a:t>شكراً</a:t>
            </a:r>
          </a:p>
          <a:p>
            <a:pPr algn="ctr">
              <a:defRPr sz="6000" b="1">
                <a:solidFill>
                  <a:srgbClr val="3498DB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Clinic Management System</a:t>
            </a:r>
          </a:p>
          <a:p>
            <a:pPr algn="ctr">
              <a:spcAft>
                <a:spcPts val="2400"/>
              </a:spcAft>
              <a:defRPr sz="2600">
                <a:solidFill>
                  <a:srgbClr val="FFFFFF"/>
                </a:solidFill>
              </a:defRPr>
            </a:pPr>
            <a:r>
              <a:t>نظام إدارة العيادات</a:t>
            </a:r>
          </a:p>
          <a:p>
            <a:pPr algn="ctr">
              <a:spcAft>
                <a:spcPts val="1200"/>
              </a:spcAft>
              <a:defRPr sz="2200">
                <a:solidFill>
                  <a:srgbClr val="F39C12"/>
                </a:solidFill>
              </a:defRPr>
            </a:pPr>
            <a:r>
              <a:t>📧 Contact Us for More Information</a:t>
            </a:r>
          </a:p>
          <a:p>
            <a:pPr algn="ctr">
              <a:defRPr sz="2000">
                <a:solidFill>
                  <a:srgbClr val="27AE60"/>
                </a:solidFill>
              </a:defRPr>
            </a:pPr>
            <a:r>
              <a:t>🚀 Ready to Transform Your Clinic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